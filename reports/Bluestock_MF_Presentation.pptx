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wjfhGcKtlxiocwscoVnKDb6Nh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B10E2F-0826-4A3D-88BC-705C9A6EC54D}">
  <a:tblStyle styleId="{A0B10E2F-0826-4A3D-88BC-705C9A6EC5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Today we present the Bluestock MF Analytics capstone — end-to-end pipeline covering 40 mutual fund schemes.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actual live dashboard at Tableau Public — all 4 pages visible: NAV Trend, Fund Performance, Investor Analytics, SIP Trends.</a:t>
            </a:r>
            <a:endParaRPr/>
          </a:p>
        </p:txBody>
      </p:sp>
      <p:sp>
        <p:nvSpPr>
          <p:cNvPr id="124" name="Google Shape;1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D9488">
              <a:alpha val="1215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CADCFC">
              <a:alpha val="7843"/>
            </a:srgbClr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BLUESTOCK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Mutual Fund Analytics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Capstone Project Presentation | June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Sneha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Thakur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Problem &amp; Objective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fmla="val 1961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210312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1,900+ MF schemes with inconsistent, scattered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unified view linking NAV, risk &amp; investor behaviour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Manual comparison is slow and error-prone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fmla="val 1961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Our Objective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automated ETL pipeline for 10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 CAGR, Sharpe, VaR, Alpha/Beta for 40 funds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 interactive 4-page Tableau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Risk-based fund recommendation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 structured datasets — Jan 2022 to Dec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" name="Google Shape;42;p3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{A0B10E2F-0826-4A3D-88BC-705C9A6EC54D}</a:tableStyleId>
              </a:tblPr>
              <a:tblGrid>
                <a:gridCol w="2743200"/>
                <a:gridCol w="1280150"/>
                <a:gridCol w="43891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 Master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Scheme metadata, expense ratio, risk grade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 History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46,000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Daily NAV → 64,320 after weekend ffill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AUM by Fund House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 AUM per AMC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SIP Inflows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Industry SIP inflow trend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 Inflows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inflow by fund category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Investor Transactions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32,778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SIP / Lumpsum / Redemption records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Portfolio Holdings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Equity holdings &amp; sector weights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Benchmark Indices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8,050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NIFTY 50 &amp; NIFTY 100 daily values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" name="Google Shape;43;p3"/>
          <p:cNvSpPr/>
          <p:nvPr/>
        </p:nvSpPr>
        <p:spPr>
          <a:xfrm>
            <a:off x="9144000" y="1417320"/>
            <a:ext cx="2743200" cy="466344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9326880" y="1645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Live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326880" y="214884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mfapi.in — live NAV for 5 flagship schemes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Validates static dataset in real-time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Technical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Raw CSVs → ETL → SQLite → Analysis → Tableau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0080" y="2103120"/>
            <a:ext cx="1920240" cy="1463040"/>
          </a:xfrm>
          <a:prstGeom prst="roundRect">
            <a:avLst>
              <a:gd fmla="val 6250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40080" y="2240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40080" y="26517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CSVs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Live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578608" y="2724912"/>
            <a:ext cx="28346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2880360" y="2103120"/>
            <a:ext cx="1920240" cy="1463040"/>
          </a:xfrm>
          <a:prstGeom prst="roundRect">
            <a:avLst>
              <a:gd fmla="val 6250" name="adj"/>
            </a:avLst>
          </a:prstGeom>
          <a:solidFill>
            <a:srgbClr val="0D948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880360" y="2240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880360" y="26517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Clean, ffill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818888" y="2724912"/>
            <a:ext cx="28346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120640" y="2103120"/>
            <a:ext cx="1920240" cy="1463040"/>
          </a:xfrm>
          <a:prstGeom prst="roundRect">
            <a:avLst>
              <a:gd fmla="val 6250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120640" y="2240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120640" y="26517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star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59168" y="2724912"/>
            <a:ext cx="28346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360920" y="2103120"/>
            <a:ext cx="1920240" cy="1463040"/>
          </a:xfrm>
          <a:prstGeom prst="roundRect">
            <a:avLst>
              <a:gd fmla="val 6250" name="adj"/>
            </a:avLst>
          </a:prstGeom>
          <a:solidFill>
            <a:srgbClr val="0D948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360920" y="2240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60920" y="26517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 Jupyter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notebooks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299448" y="2724912"/>
            <a:ext cx="283464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601200" y="2103120"/>
            <a:ext cx="1920240" cy="1463040"/>
          </a:xfrm>
          <a:prstGeom prst="roundRect">
            <a:avLst>
              <a:gd fmla="val 6250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601200" y="22402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601200" y="26517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Tableau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80" y="4023360"/>
            <a:ext cx="10881360" cy="201168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Stack: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Python (pandas, numpy, scipy)  •  SQLAlchemy + SQLite  •  matplotlib / seaborn / plotly  •  Tableau Public  •  Git +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EDA Highlights: NAV &amp; AUM Trends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nal_build/charts/nav_trend.png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548640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nal_build/charts/aum_chart.png" id="84" name="Google Shape;8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325880"/>
            <a:ext cx="54864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548640" y="4069080"/>
            <a:ext cx="11338560" cy="201168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22960" y="425196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2023 bull run lifted average equity NAV ~35%; 2024 correction of 12-15% visible across all schemes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SBI Mutual Fund leads at ₹12.5 lakh crore — total tracked industry AUM: ₹62.74 lakh crore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Folio count nearly doubled: 13.26 Cr (Jan 2022) → 26.12 Cr (Dec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EDA Highlights: SIP Flows &amp; Investor Geography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nal_build/charts/sip_trends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548640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inal_build/charts/investor_chart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325880"/>
            <a:ext cx="54864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548640" y="4069080"/>
            <a:ext cx="11338560" cy="201168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22960" y="425196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SIP inflows grew 169%: ₹11,517 Cr (Jan 2022) → ₹31,002 Cr all-time high (Dec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Punjab, Tamil Nadu &amp; Madhya Pradesh lead state-wise value — participation beyond traditional metros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26-35 age group drives max SIP transactions; Direct plans save 0.5-1% TER annually vs Regular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Performance Metrics: Methodology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7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{A0B10E2F-0826-4A3D-88BC-705C9A6EC54D}</a:tableStyleId>
              </a:tblPr>
              <a:tblGrid>
                <a:gridCol w="2286000"/>
                <a:gridCol w="59436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Formula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CAGR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(NAV_end/NAV_start)^(1/years) − 1  ·  annualised on 252 trading days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Sharpe Ratio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(Rp − Rf) / σ(Rp) × √252,  Rf = 6.5%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Sortino Ratio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(Rp − Rf) / downside_σ × √252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Alpha / Beta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OLS regression vs NIFTY 100 daily returns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Drawdown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min(NAV / running_max − 1)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95%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5th percentile of daily return distribution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CVaR 95%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of returns below VaR threshold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7"/>
          <p:cNvSpPr/>
          <p:nvPr/>
        </p:nvSpPr>
        <p:spPr>
          <a:xfrm>
            <a:off x="9052560" y="1417320"/>
            <a:ext cx="2834640" cy="4663440"/>
          </a:xfrm>
          <a:prstGeom prst="roundRect">
            <a:avLst>
              <a:gd fmla="val 3226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235440" y="1645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Scorecard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235440" y="2468880"/>
            <a:ext cx="24688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30% — 3yr return rank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25% — Sharpe rank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20% — Alpha rank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 — Expense (inv.)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— Max DD (inv.)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Performance Metrics: Top Funds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nal_build/charts/fund_performance.png"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6400800" cy="30175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8"/>
          <p:cNvGraphicFramePr/>
          <p:nvPr/>
        </p:nvGraphicFramePr>
        <p:xfrm>
          <a:off x="713232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{A0B10E2F-0826-4A3D-88BC-705C9A6EC54D}</a:tableStyleId>
              </a:tblPr>
              <a:tblGrid>
                <a:gridCol w="2468875"/>
                <a:gridCol w="1097275"/>
                <a:gridCol w="10972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3Yr CAGR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Sharpe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ICICI Pru Midcap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31.8%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Axis Midcap Fund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35.1%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HDFC Mid-Cap Opp.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32.4%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Mirae Asset Large Cap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Kotak Flexicap Fund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29.6%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9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8"/>
          <p:cNvSpPr/>
          <p:nvPr/>
        </p:nvSpPr>
        <p:spPr>
          <a:xfrm>
            <a:off x="548640" y="4572000"/>
            <a:ext cx="11338560" cy="1508760"/>
          </a:xfrm>
          <a:prstGeom prst="roundRect">
            <a:avLst>
              <a:gd fmla="val 4848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822960" y="475488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ICICI Prudential Midcap Fund tops the composite scorecard at 85.1/100 — upper-right quadrant represents the best risk-adjusted performers combining high returns with high Sharpe ratio.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Interactive Dashboard — Live on Tableau Public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https://public.tableau.com/app/profile/sneha.thakur4375/viz/tableau_mf/Dashboard1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65760" y="1325880"/>
            <a:ext cx="10789920" cy="4663440"/>
          </a:xfrm>
          <a:prstGeom prst="roundRect">
            <a:avLst>
              <a:gd fmla="val 1569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al_build/charts/tableau_all4_panels.pn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96926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Dashboard: 4 Pages &amp; Interactive Filters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1371600"/>
            <a:ext cx="2743200" cy="4754880"/>
          </a:xfrm>
          <a:prstGeom prst="roundRect">
            <a:avLst>
              <a:gd fmla="val 2667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al_build/charts/tab_nav_trend.png"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63040"/>
            <a:ext cx="25603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45720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Page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NAV 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48640" y="4069080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Multi-line: all 40 funds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2022-2026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Filters: Category, Scheme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3291840" y="1371600"/>
            <a:ext cx="2743200" cy="4754880"/>
          </a:xfrm>
          <a:prstGeom prst="roundRect">
            <a:avLst>
              <a:gd fmla="val 2667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al_build/charts/tab_fund_performance.png" id="142" name="Google Shape;1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463040"/>
            <a:ext cx="25603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329184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Page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Fund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3383280" y="4069080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Bubble chart: CAGR vs Sharpe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Coloured by scorecard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Filters: Fund House, 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126480" y="1371600"/>
            <a:ext cx="2743200" cy="4754880"/>
          </a:xfrm>
          <a:prstGeom prst="roundRect">
            <a:avLst>
              <a:gd fmla="val 2667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al_build/charts/tab_investor_analytics.png" id="146" name="Google Shape;14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463040"/>
            <a:ext cx="25603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612648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Page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Investor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217920" y="4069080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Bar: amount by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Filters: State, Transaction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8961120" y="1371600"/>
            <a:ext cx="2743200" cy="4754880"/>
          </a:xfrm>
          <a:prstGeom prst="roundRect">
            <a:avLst>
              <a:gd fmla="val 2667" name="adj"/>
            </a:avLst>
          </a:prstGeom>
          <a:solidFill>
            <a:srgbClr val="F3F6F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inal_build/charts/tab_sip_trends.png" id="150" name="Google Shape;15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2560" y="1463040"/>
            <a:ext cx="25603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/>
          <p:nvPr/>
        </p:nvSpPr>
        <p:spPr>
          <a:xfrm>
            <a:off x="8961120" y="3383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Page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SIP Trends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9052560" y="4069080"/>
            <a:ext cx="2560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Bar: monthly SIP inflows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Filters: Month, YoY Growth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548640" y="228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94360" y="150876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59436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₹62.74L Cr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731520" y="251460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Total industry AUM tracked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343400" y="150876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434340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169%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480560" y="251460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SIP inflow growth, 2022-2025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8092440" y="150876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809244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26.12 Cr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8229600" y="251460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Investor folios, Dec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94360" y="361188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59436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85.1/100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731520" y="461772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 fund score (ICICI Pru Midcap)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343400" y="361188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434340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2.39%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480560" y="461772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Highest daily VaR — Small 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092440" y="3611880"/>
            <a:ext cx="352044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809244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18/20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229600" y="461772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Tableau best-practice checks passed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1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CADCFC">
              <a:alpha val="7843"/>
            </a:srgbClr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GitHub: github.com/sneha-work/bluestock_mf_capstone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Dashboard: public.tableau.com/app/profile/sneha.thakur4375/viz/tableau_mf/Dashboard1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2026-06-28T15:03:43Z</dcterms:created>
  <dc:creator>Bluestock MF Capstone</dc:creator>
</cp:coreProperties>
</file>