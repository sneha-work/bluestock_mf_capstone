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Today we present the Bluestock MF Analytics capstone — end-to-end pipeline covering 40 mutual fund schemes.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actual live dashboard at Tableau Public — all 4 pages visible: NAV Trend, Fund Performance, Investor Analytics, SIP Trends.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371600"/>
            <a:ext cx="4572000" cy="45720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CADCFC">
              <a:alpha val="8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BLUESTOCK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Fund Analytics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 Presentation | June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Moningi  •  Vardhan Chennamsetty  •  Rudra Pawar  •  S.N. Thakur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Objective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1,900+ MF schemes with inconsistent, scattered data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unified view linking NAV, risk &amp; investor behaviour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comparison is slow and error-prone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</a:rPr>
              <a:t>Our Objective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92240" y="210312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automated ETL pipeline for 10 datasets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CAGR, Sharpe, VaR, Alpha/Beta for 40 funds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interactive 4-page Tableau dashboard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Risk-based fund recommendation engine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2/12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structured datasets — Jan 2022 to Dec 2025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412480" cy="466344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4389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Master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Scheme metadata, expense ratio, risk grade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 History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NAV → 64,320 after weekend ffill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AUM by Fund House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Quarterly AUM per AMC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SIP Inflows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Industry SIP inflow trend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 Inflows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inflow by fund category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 Transactions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SIP / Lumpsum / Redemption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Holdings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holdings &amp; sector weights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Indices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NIFTY 50 &amp; NIFTY 100 daily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0" y="1417320"/>
            <a:ext cx="2743200" cy="46634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32688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Live API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326880" y="214884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mfapi.in — live NAV for 5 flagship schemes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static dataset in real-time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3/12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CSVs → ETL → SQLite → Analysis → Tableau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Extract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10 CSVs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Live API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8608" y="2724912"/>
            <a:ext cx="28346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80360" y="210312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0D948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8036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Transform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80360" y="26517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Clean, ffill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validate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18888" y="2724912"/>
            <a:ext cx="28346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10312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6517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SQLite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star schema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59168" y="2724912"/>
            <a:ext cx="28346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60920" y="210312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0D948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6092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Analyze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60920" y="26517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5 Jupyter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notebooks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99448" y="2724912"/>
            <a:ext cx="28346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0" y="210312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Visualize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0" y="26517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Tableau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Public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02336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Stack: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(pandas, numpy, scipy)  •  SQLAlchemy + SQLite  •  matplotlib / seaborn / plotly  •  Tableau Public  •  Git + GitHub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4/12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Highlights: NAV &amp; AUM Trends</a:t>
            </a:r>
            <a:endParaRPr lang="en-US" sz="2800" dirty="0"/>
          </a:p>
        </p:txBody>
      </p:sp>
      <p:pic>
        <p:nvPicPr>
          <p:cNvPr id="3" name="Image 0" descr="/home/claude/final_build/charts/nav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2560320"/>
          </a:xfrm>
          <a:prstGeom prst="rect">
            <a:avLst/>
          </a:prstGeom>
        </p:spPr>
      </p:pic>
      <p:pic>
        <p:nvPicPr>
          <p:cNvPr id="4" name="Image 1" descr="/home/claude/final_build/charts/aum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486400" cy="2560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4069080"/>
            <a:ext cx="11338560" cy="2011680"/>
          </a:xfrm>
          <a:prstGeom prst="roundRect">
            <a:avLst>
              <a:gd name="adj" fmla="val 363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22960" y="42519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bull run lifted average equity NAV ~35%; 2024 correction of 12-15% visible across all schemes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SBI Mutual Fund leads at ₹12.5 lakh crore — total tracked industry AUM: ₹62.74 lakh crore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count nearly doubled: 13.26 Cr (Jan 2022) → 26.12 Cr (Dec 2025)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5/12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Highlights: SIP Flows &amp; Investor Geography</a:t>
            </a:r>
            <a:endParaRPr lang="en-US" sz="2800" dirty="0"/>
          </a:p>
        </p:txBody>
      </p:sp>
      <p:pic>
        <p:nvPicPr>
          <p:cNvPr id="3" name="Image 0" descr="/home/claude/final_build/charts/sip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2560320"/>
          </a:xfrm>
          <a:prstGeom prst="rect">
            <a:avLst/>
          </a:prstGeom>
        </p:spPr>
      </p:pic>
      <p:pic>
        <p:nvPicPr>
          <p:cNvPr id="4" name="Image 1" descr="/home/claude/final_build/charts/investor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486400" cy="2560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4069080"/>
            <a:ext cx="11338560" cy="2011680"/>
          </a:xfrm>
          <a:prstGeom prst="roundRect">
            <a:avLst>
              <a:gd name="adj" fmla="val 3636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22960" y="42519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SIP inflows grew 169%: ₹11,517 Cr (Jan 2022) → ₹31,002 Cr all-time high (Dec 2025)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Punjab, Tamil Nadu &amp; Madhya Pradesh lead state-wise value — participation beyond traditional metros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26-35 age group drives max SIP transactions; Direct plans save 0.5-1% TER annually vs Regular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6/12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Metrics: Methodology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229600" cy="466344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CAGR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(NAV_end/NAV_start)^(1/years) − 1  ·  annualised on 252 trading days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Sharpe Ratio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(Rp − Rf) / σ(Rp) × √252,  Rf = 6.5%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Sortino Ratio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(Rp − Rf) / downside_σ × √252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Alpha / Beta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OLS regression vs NIFTY 100 daily returns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Drawdown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min(NAV / running_max − 1)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 95%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5th percentile of daily return distribution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CVaR 95%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of returns below VaR threshold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052560" y="1417320"/>
            <a:ext cx="2834640" cy="4663440"/>
          </a:xfrm>
          <a:prstGeom prst="roundRect">
            <a:avLst>
              <a:gd name="adj" fmla="val 32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23544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Scorecard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Weights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235440" y="2468880"/>
            <a:ext cx="24688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— 3yr return rank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— Sharpe rank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— Alpha rank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— Expense (inv.)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— Max DD (inv.)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7/12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Metrics: Top Funds</a:t>
            </a:r>
            <a:endParaRPr lang="en-US" sz="2800" dirty="0"/>
          </a:p>
        </p:txBody>
      </p:sp>
      <p:pic>
        <p:nvPicPr>
          <p:cNvPr id="3" name="Image 0" descr="/home/claude/final_build/charts/fund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400800" cy="301752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325880"/>
          <a:ext cx="4663440" cy="301752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3Yr CAGR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Pru Midcap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 Midcap Fund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HDFC Mid-Cap Opp.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Mirae Asset Large Cap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Kotak Flexicap Fund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4572000"/>
            <a:ext cx="1133856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22960" y="47548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Prudential Midcap Fund tops the composite scorecard at 85.1/100 — upper-right quadrant represents the best risk-adjusted performers combining high returns with high Sharpe ratio.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8/12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Dashboard — Live on Tableau Public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D9488"/>
                </a:solidFill>
              </a:rPr>
              <a:t>https://public.tableau.com/app/profile/sneha.thakur4375/viz/tableau_mf/Dashboard1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10789920" cy="4663440"/>
          </a:xfrm>
          <a:prstGeom prst="roundRect">
            <a:avLst>
              <a:gd name="adj" fmla="val 156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final_build/charts/tableau_all4_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969264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9/12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4 Pages &amp; Interactive Filters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743200" cy="4754880"/>
          </a:xfrm>
          <a:prstGeom prst="roundRect">
            <a:avLst>
              <a:gd name="adj" fmla="val 2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claude/final_build/charts/tab_nav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5603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Page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NAV Trend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Multi-line: all 40 funds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2022-2026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Filters: Category, Scheme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91840" y="1371600"/>
            <a:ext cx="2743200" cy="4754880"/>
          </a:xfrm>
          <a:prstGeom prst="roundRect">
            <a:avLst>
              <a:gd name="adj" fmla="val 2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home/claude/final_build/charts/tab_fund_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560320" cy="1828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9184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Page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Fund Performance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383280" y="406908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Bubble chart: CAGR vs Sharpe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Coloured by scorecard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Filters: Fund House, Category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371600"/>
            <a:ext cx="2743200" cy="4754880"/>
          </a:xfrm>
          <a:prstGeom prst="roundRect">
            <a:avLst>
              <a:gd name="adj" fmla="val 2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/home/claude/final_build/charts/tab_investor_analyt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2560320" cy="18288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Page 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Investor Analytics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217920" y="406908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Bar: amount by state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Filters: State, Transaction Type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961120" y="1371600"/>
            <a:ext cx="2743200" cy="4754880"/>
          </a:xfrm>
          <a:prstGeom prst="roundRect">
            <a:avLst>
              <a:gd name="adj" fmla="val 2667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pic>
        <p:nvPicPr>
          <p:cNvPr id="16" name="Image 3" descr="/home/claude/final_build/charts/tab_sip_tren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463040"/>
            <a:ext cx="2560320" cy="18288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96112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Page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SIP Trends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9052560" y="406908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Bar: monthly SIP inflows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Filters: Month, YoY Growth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10/12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15087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₹62.74L Cr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Total industry AUM tracked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15087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434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169%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480560" y="2514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SIP inflow growth, 2022-2025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92440" y="150876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9244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26.12 Cr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0" y="25146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Investor folios, Dec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6118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794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85.1/100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" y="46177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Top fund score (ICICI Pru Midcap)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6118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343400" y="3794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2.39%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480560" y="46177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Highest daily VaR — Small Cap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361188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92440" y="3794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18/20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9600" y="46177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Tableau best-practice checks passed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11/12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CADCFC">
              <a:alpha val="8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github.com/sneha-work/bluestock_mf_capstone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public.tableau.com/app/profile/sneha.thakur4375/viz/tableau_mf/Dashboard1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12/12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Bluestock Mutual Fund Analytics</dc:title>
  <dc:subject>PptxGenJS Presentation</dc:subject>
  <dc:creator>Bluestock MF Capstone</dc:creator>
  <cp:lastModifiedBy>Bluestock MF Capstone</cp:lastModifiedBy>
  <cp:revision>1</cp:revision>
  <dcterms:created xsi:type="dcterms:W3CDTF">2026-06-28T15:03:43Z</dcterms:created>
  <dcterms:modified xsi:type="dcterms:W3CDTF">2026-06-28T15:03:43Z</dcterms:modified>
</cp:coreProperties>
</file>